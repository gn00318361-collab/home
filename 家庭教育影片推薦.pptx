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E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>
                <a:solidFill>
                  <a:srgbClr val="FFFFFF"/>
                </a:solidFill>
                <a:latin typeface="Georgia"/>
              </a:defRPr>
            </a:pPr>
            <a:r>
              <a:t>家庭教育影片推薦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2200" b="0">
                <a:solidFill>
                  <a:srgbClr val="CADCFC"/>
                </a:solidFill>
                <a:latin typeface="Calibri"/>
              </a:defRPr>
            </a:pPr>
            <a:r>
              <a:t>適合低年級家長與學生一起觀看的優質短片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7BC62"/>
                </a:solidFill>
                <a:latin typeface="Calibri"/>
              </a:defRPr>
            </a:pPr>
            <a:r>
              <a:t>片長約 5 分鐘  ·  附討論引導  ·  親子共學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E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172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97BC62"/>
                </a:solidFill>
                <a:latin typeface="Calibri"/>
              </a:defRPr>
            </a:pPr>
            <a:r>
              <a:t>家庭教育宣導活動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為什麼選擇短片？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20116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96596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28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時間剛剛好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4028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五分鐘的影片長度適合低年級</a:t>
            </a:r>
            <a:br/>
            <a:r>
              <a:t>孩子的專注力，不會太長也</a:t>
            </a:r>
            <a:br/>
            <a:r>
              <a:t>不會太短。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64592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54864" cy="201168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79" y="1965960"/>
            <a:ext cx="548640" cy="54864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828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親子共學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24028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家長和孩子一起觀看，</a:t>
            </a:r>
            <a:br/>
            <a:r>
              <a:t>看完可以立即討論分享，</a:t>
            </a:r>
            <a:br/>
            <a:r>
              <a:t>增進親子互動。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383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54864" cy="20116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1965960"/>
            <a:ext cx="548640" cy="54864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28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主題多元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涵蓋品格教育、情緒管理、</a:t>
            </a:r>
            <a:br/>
            <a:r>
              <a:t>生命教育等主題，</a:t>
            </a:r>
            <a:br/>
            <a:r>
              <a:t>滿足不同教學需求。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6B6B6B"/>
                </a:solidFill>
                <a:latin typeface="Calibri"/>
              </a:defRPr>
            </a:pPr>
            <a:r>
              <a:t>以下推薦的影片皆可在 YouTube 免費觀看，且附有討論引導問題，方便老師及家長直接使用。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推薦影片 ①  動畫短片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120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4864" cy="2286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200" b="1">
                <a:solidFill>
                  <a:srgbClr val="2D2D2D"/>
                </a:solidFill>
                <a:latin typeface="Calibri"/>
              </a:defRPr>
            </a:pPr>
            <a:r>
              <a:t>《翅膀》Wings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1">
                <a:solidFill>
                  <a:srgbClr val="F96167"/>
                </a:solidFill>
                <a:latin typeface="Calibri"/>
              </a:defRPr>
            </a:pPr>
            <a:r>
              <a:t>片長：約 5 分鐘  |  類型：動畫短片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一隻小白鼠收集羽毛，發現一隻受傷的小鳥，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悉心照顧牠度過冬天直到康復，兩人成為好朋友。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5F2D"/>
                </a:solidFill>
                <a:latin typeface="Calibri"/>
              </a:defRPr>
            </a:pPr>
            <a:r>
              <a:t>主題：友誼、善良、夢想、關懷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1206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4864" cy="2286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200" b="1">
                <a:solidFill>
                  <a:srgbClr val="2D2D2D"/>
                </a:solidFill>
                <a:latin typeface="Calibri"/>
              </a:defRPr>
            </a:pPr>
            <a:r>
              <a:t>《父與女》Father and Daughter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300" b="1">
                <a:solidFill>
                  <a:srgbClr val="97BC62"/>
                </a:solidFill>
                <a:latin typeface="Calibri"/>
              </a:defRPr>
            </a:pPr>
            <a:r>
              <a:t>片長：約 8 分鐘  |  奧斯卡最佳動畫短片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父親和女兒在荷蘭鄉間騎單車，父親離去後，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女兒從小到老一直等待，全片無對白，感人至深。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5F2D"/>
                </a:solidFill>
                <a:latin typeface="Calibri"/>
              </a:defRPr>
            </a:pPr>
            <a:r>
              <a:t>主題：親子關係、愛與思念、生命教育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C5F2D"/>
                </a:solidFill>
                <a:latin typeface="Calibri"/>
              </a:defRPr>
            </a:pPr>
            <a:r>
              <a:t>討論引導問題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54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1. 小白鼠為什麼要照顧受傷的小鳥？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2. 你有沒有幫助過別人？感覺怎麼樣？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3. 好朋友應該怎麼互相對待？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1. 女兒為什麼一直回到那個地方等？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2. 爸爸媽媽對你做過什麼讓你最感動的事？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3. 你想對爸爸媽媽說什麼？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推薦影片 ②  品格與情緒教育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33832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383280" cy="5486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品格教育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幫助、關心和分享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教導孩子學習幫助他人、</a:t>
            </a:r>
            <a:br/>
            <a:r>
              <a:t>關心朋友、分享快樂。</a:t>
            </a:r>
            <a:br/>
            <a:r>
              <a:t>適合低年級學生。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977639"/>
            <a:ext cx="1371600" cy="320040"/>
          </a:xfrm>
          <a:prstGeom prst="round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C5F2D"/>
                </a:solidFill>
              </a:defRPr>
            </a:pPr>
            <a:r>
              <a:t>約 3-5 分鐘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554480"/>
            <a:ext cx="33832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554480"/>
            <a:ext cx="338328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645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情緒教育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認識憤怒與妒忌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889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透過動畫讓孩子了解</a:t>
            </a:r>
            <a:br/>
            <a:r>
              <a:t>負面情緒的影響，</a:t>
            </a:r>
            <a:br/>
            <a:r>
              <a:t>學習管理自己的情緒。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79" y="3977639"/>
            <a:ext cx="1371600" cy="320040"/>
          </a:xfrm>
          <a:prstGeom prst="round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C5F2D"/>
                </a:solidFill>
              </a:defRPr>
            </a:pPr>
            <a:r>
              <a:t>約 4-5 分鐘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54480"/>
            <a:ext cx="33832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383280" cy="5486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645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生命教育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一起思考生命的意義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7889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用溫暖的動畫帶孩子</a:t>
            </a:r>
            <a:br/>
            <a:r>
              <a:t>認識生命的珍貴，</a:t>
            </a:r>
            <a:br/>
            <a:r>
              <a:t>學會珍惜身邊的人。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3977639"/>
            <a:ext cx="1371600" cy="320040"/>
          </a:xfrm>
          <a:prstGeom prst="round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C5F2D"/>
                </a:solidFill>
              </a:defRPr>
            </a:pPr>
            <a:r>
              <a:t>約 4-6 分鐘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98348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1600" b="1">
                <a:solidFill>
                  <a:srgbClr val="2C5F2D"/>
                </a:solidFill>
                <a:latin typeface="Calibri"/>
              </a:defRPr>
            </a:pPr>
            <a:r>
              <a:t>影片來源：「學好一點 Learn Better」網站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https://learnbettereducation.com  — 整理國際得獎動畫短片，每部附討論引導問題，可直接用於家庭教育活動。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推薦 YouTube 頻道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28800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未來親子TV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2148840"/>
            <a:ext cx="1097280" cy="274320"/>
          </a:xfrm>
          <a:prstGeom prst="round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C5F2D"/>
                </a:solidFill>
              </a:defRPr>
            </a:pPr>
            <a:r>
              <a:t>低年級適用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468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有專為中低年級設計的系列，主題涵蓋科學、社會、環境，</a:t>
            </a:r>
            <a:br/>
            <a:r>
              <a:t>動畫生動、解說簡單易懂。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55448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1828800"/>
            <a:ext cx="502920" cy="5029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小行星樂樂TV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148840"/>
            <a:ext cx="1097280" cy="274320"/>
          </a:xfrm>
          <a:prstGeom prst="round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C5F2D"/>
                </a:solidFill>
              </a:defRPr>
            </a:pPr>
            <a:r>
              <a:t>3-8 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688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適合 3-8 歲，內容包含生活習慣、世界童話故事、注音教學，</a:t>
            </a:r>
            <a:br/>
            <a:r>
              <a:t>以「寓教於樂」為核心的親子共學頻道。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3931920"/>
            <a:ext cx="502920" cy="50292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840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品德教育頻道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4251960"/>
            <a:ext cx="1097280" cy="274320"/>
          </a:xfrm>
          <a:prstGeom prst="round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C5F2D"/>
                </a:solidFill>
              </a:defRPr>
            </a:pPr>
            <a:r>
              <a:t>品格教育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5720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動畫形式講品德故事，片尾有道德價值觀說明，</a:t>
            </a:r>
            <a:br/>
            <a:r>
              <a:t>適合課堂或家長會播放。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65760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29400" y="393192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840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D2D2D"/>
                </a:solidFill>
                <a:latin typeface="Calibri"/>
              </a:defRPr>
            </a:pPr>
            <a:r>
              <a:t>小公視（公視兒童頻道）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251960"/>
            <a:ext cx="1097280" cy="274320"/>
          </a:xfrm>
          <a:prstGeom prst="round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C5F2D"/>
                </a:solidFill>
              </a:defRPr>
            </a:pPr>
            <a:r>
              <a:t>台灣製作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57200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台灣公共電視製作，內容扣連時代議題，</a:t>
            </a:r>
            <a:br/>
            <a:r>
              <a:t>鼓勵孩子思考，有多元家庭教育相關內容。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如何使用這些影片？</a:t>
            </a:r>
          </a:p>
        </p:txBody>
      </p:sp>
      <p:sp>
        <p:nvSpPr>
          <p:cNvPr id="4" name="Oval 3"/>
          <p:cNvSpPr/>
          <p:nvPr/>
        </p:nvSpPr>
        <p:spPr>
          <a:xfrm>
            <a:off x="1645920" y="1554480"/>
            <a:ext cx="822960" cy="82296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Calibri"/>
              </a:defRPr>
            </a:pPr>
            <a:r>
              <a:t>選擇影片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根據活動主題選擇</a:t>
            </a:r>
            <a:br/>
            <a:r>
              <a:t>合適的短片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6B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4526280" y="1554480"/>
            <a:ext cx="822960" cy="8229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Calibri"/>
              </a:defRPr>
            </a:pPr>
            <a:r>
              <a:t>播放觀看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家長與孩子一起</a:t>
            </a:r>
            <a:br/>
            <a:r>
              <a:t>專心觀賞影片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6B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0" y="155448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Calibri"/>
              </a:defRPr>
            </a:pPr>
            <a:r>
              <a:t>引導討論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用附帶的問題</a:t>
            </a:r>
            <a:br/>
            <a:r>
              <a:t>引導親子對話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691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0">
                <a:solidFill>
                  <a:srgbClr val="6B6B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10287000" y="1554480"/>
            <a:ext cx="822960" cy="82296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606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D2D2D"/>
                </a:solidFill>
                <a:latin typeface="Calibri"/>
              </a:defRPr>
            </a:pPr>
            <a:r>
              <a:t>延伸活動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30632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6B6B6B"/>
                </a:solidFill>
                <a:latin typeface="Calibri"/>
              </a:defRPr>
            </a:pPr>
            <a:r>
              <a:t>畫圖、寫卡片</a:t>
            </a:r>
            <a:br/>
            <a:r>
              <a:t>或角色扮演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10698480" cy="2103120"/>
          </a:xfrm>
          <a:prstGeom prst="rect">
            <a:avLst/>
          </a:prstGeom>
          <a:solidFill>
            <a:srgbClr val="E8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2C5F2D"/>
                </a:solidFill>
                <a:latin typeface="Calibri"/>
              </a:defRPr>
            </a:pPr>
            <a:r>
              <a:t>小提醒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06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2D2D2D"/>
                </a:solidFill>
                <a:latin typeface="Calibri"/>
              </a:defRPr>
            </a:pPr>
            <a:r>
              <a:t>觀看前：先簡單介紹影片主題，引起孩子的好奇心</a:t>
            </a:r>
            <a:br/>
            <a:r>
              <a:t>觀看中：和孩子一起看，觀察孩子的反應</a:t>
            </a:r>
            <a:br/>
            <a:r>
              <a:t>觀看後：用開放式問題引導，不急著給「標準答案」</a:t>
            </a:r>
            <a:br/>
            <a:r>
              <a:t>延伸：鼓勵孩子用畫圖或說故事的方式表達感受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1E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t>資源連結整理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868680"/>
          </a:xfrm>
          <a:prstGeom prst="rect">
            <a:avLst/>
          </a:prstGeom>
          <a:solidFill>
            <a:srgbClr val="1E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920240"/>
            <a:ext cx="274320" cy="2743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學好一點 Learn Better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7BC62"/>
                </a:solidFill>
                <a:latin typeface="Calibri"/>
              </a:defRPr>
            </a:pPr>
            <a:r>
              <a:t>learnbettereducation.com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7451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國際動畫短片＋討論引導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10698480" cy="868680"/>
          </a:xfrm>
          <a:prstGeom prst="rect">
            <a:avLst/>
          </a:prstGeom>
          <a:solidFill>
            <a:srgbClr val="1E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971800"/>
            <a:ext cx="274320" cy="2743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788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教育部家庭教育資源網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7BC62"/>
                </a:solidFill>
                <a:latin typeface="Calibri"/>
              </a:defRPr>
            </a:pPr>
            <a:r>
              <a:t>familyedu.moe.gov.tw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6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官方家庭教育影片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698480" cy="868680"/>
          </a:xfrm>
          <a:prstGeom prst="rect">
            <a:avLst/>
          </a:prstGeom>
          <a:solidFill>
            <a:srgbClr val="1E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023359"/>
            <a:ext cx="274320" cy="2743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8404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新北市家庭教育中心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7BC62"/>
                </a:solidFill>
                <a:latin typeface="Calibri"/>
              </a:defRPr>
            </a:pPr>
            <a:r>
              <a:t>ntpc.familyedu.moe.gov.tw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9776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影片專區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00600"/>
            <a:ext cx="10698480" cy="868680"/>
          </a:xfrm>
          <a:prstGeom prst="rect">
            <a:avLst/>
          </a:prstGeom>
          <a:solidFill>
            <a:srgbClr val="1E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5074920"/>
            <a:ext cx="274320" cy="2743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892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親子天下線上學校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257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97BC62"/>
                </a:solidFill>
                <a:latin typeface="Calibri"/>
              </a:defRPr>
            </a:pPr>
            <a:r>
              <a:t>learning.parenting.com.tw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CADCFC"/>
                </a:solidFill>
                <a:latin typeface="Calibri"/>
              </a:defRPr>
            </a:pPr>
            <a:r>
              <a:t>情緒管理等系列課程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0">
                <a:solidFill>
                  <a:srgbClr val="97BC62"/>
                </a:solidFill>
                <a:latin typeface="Georgia"/>
              </a:defRPr>
            </a:pPr>
            <a:r>
              <a:t>讓我們一起用好影片，拉近親子的距離！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